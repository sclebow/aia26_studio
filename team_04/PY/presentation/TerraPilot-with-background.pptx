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" name="Picture 11" descr="terrapilot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8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8E0D0"/>
                </a:solidFill>
                <a:latin typeface="Segoe UI"/>
              </a:rPr>
              <a:t>AI-DRIVEN ARCHITECTURAL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12801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6000" b="1" i="0">
                <a:solidFill>
                  <a:srgbClr val="EAF2FF"/>
                </a:solidFill>
                <a:latin typeface="Segoe UI"/>
              </a:rPr>
              <a:t>▲ Terra</a:t>
            </a:r>
            <a:r>
              <a:rPr sz="6000" b="1" i="0">
                <a:solidFill>
                  <a:srgbClr val="57F2E6"/>
                </a:solidFill>
                <a:latin typeface="Segoe UI"/>
              </a:rPr>
              <a:t>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8B97AD"/>
                </a:solidFill>
                <a:latin typeface="Segoe UI"/>
              </a:rPr>
              <a:t>An AI co-pilot that turns plain prompts into site-aware, optimized, explainable architecture.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572000"/>
            <a:ext cx="2651760" cy="640080"/>
          </a:xfrm>
          <a:prstGeom prst="rect">
            <a:avLst/>
          </a:prstGeom>
          <a:solidFill>
            <a:srgbClr val="0D1628"/>
          </a:solidFill>
          <a:ln w="15875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7F2E6"/>
                </a:solidFill>
                <a:latin typeface="Segoe UI"/>
              </a:rPr>
              <a:t>AI Logic &amp; Optimization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1568" y="4572000"/>
            <a:ext cx="2651760" cy="640080"/>
          </a:xfrm>
          <a:prstGeom prst="rect">
            <a:avLst/>
          </a:prstGeom>
          <a:solidFill>
            <a:srgbClr val="0D1628"/>
          </a:solidFill>
          <a:ln w="15875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7F2E6"/>
                </a:solidFill>
                <a:latin typeface="Segoe UI"/>
              </a:rPr>
              <a:t>Shape &amp; Manipulation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3056" y="4572000"/>
            <a:ext cx="2651760" cy="640080"/>
          </a:xfrm>
          <a:prstGeom prst="rect">
            <a:avLst/>
          </a:prstGeom>
          <a:solidFill>
            <a:srgbClr val="0D1628"/>
          </a:solidFill>
          <a:ln w="15875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7F2E6"/>
                </a:solidFill>
                <a:latin typeface="Segoe UI"/>
              </a:rPr>
              <a:t>Site &amp; Urban Context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24544" y="4572000"/>
            <a:ext cx="2651760" cy="640080"/>
          </a:xfrm>
          <a:prstGeom prst="rect">
            <a:avLst/>
          </a:prstGeom>
          <a:solidFill>
            <a:srgbClr val="0D1628"/>
          </a:solidFill>
          <a:ln w="15875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7F2E6"/>
                </a:solidFill>
                <a:latin typeface="Segoe UI"/>
              </a:rPr>
              <a:t>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7C7BFF"/>
                </a:solidFill>
                <a:latin typeface="Segoe UI"/>
              </a:rPr>
              <a:t>"You describe a building in a simple prompt — TerraPilot generates, places, and optimizes it on a real site."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7" name="Picture 16" descr="terrapilot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8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8E0D0"/>
                </a:solidFill>
                <a:latin typeface="Segoe UI"/>
              </a:rPr>
              <a:t>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3300" b="1" i="0">
                <a:solidFill>
                  <a:srgbClr val="EAF2FF"/>
                </a:solidFill>
                <a:latin typeface="Segoe UI"/>
              </a:rPr>
              <a:t>From a </a:t>
            </a:r>
            <a:r>
              <a:rPr sz="3300" b="1" i="0">
                <a:solidFill>
                  <a:srgbClr val="57F2E6"/>
                </a:solidFill>
                <a:latin typeface="Segoe UI"/>
              </a:rPr>
              <a:t>sentence</a:t>
            </a:r>
            <a:r>
              <a:rPr sz="3300" b="1" i="0">
                <a:solidFill>
                  <a:srgbClr val="EAF2FF"/>
                </a:solidFill>
                <a:latin typeface="Segoe UI"/>
              </a:rPr>
              <a:t> to a site-aware building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B97AD"/>
                </a:solidFill>
                <a:latin typeface="Segoe UI"/>
              </a:rPr>
              <a:t>Early-stage design is slow and manual — one massing study can take days. TerraPilot collapses that into minutes through a guided, conversational workflow.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68880"/>
            <a:ext cx="3474720" cy="1737360"/>
          </a:xfrm>
          <a:prstGeom prst="rect">
            <a:avLst/>
          </a:prstGeom>
          <a:solidFill>
            <a:srgbClr val="0D1628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28E0D0"/>
                </a:solidFill>
                <a:latin typeface="Segoe UI"/>
              </a:rPr>
              <a:t>💬  You talk to it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7D2E6"/>
                </a:solidFill>
                <a:latin typeface="Segoe UI"/>
              </a:rPr>
              <a:t>No menus to learn. Just say it — “give it a futuristic twist”, “open it toward the park” — like talking to a design assistant.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68880"/>
            <a:ext cx="54864" cy="1737360"/>
          </a:xfrm>
          <a:prstGeom prst="rect">
            <a:avLst/>
          </a:prstGeom>
          <a:solidFill>
            <a:srgbClr val="28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2468880"/>
            <a:ext cx="3474720" cy="1737360"/>
          </a:xfrm>
          <a:prstGeom prst="rect">
            <a:avLst/>
          </a:prstGeom>
          <a:solidFill>
            <a:srgbClr val="0D1628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7C7BFF"/>
                </a:solidFill>
                <a:latin typeface="Segoe UI"/>
              </a:rPr>
              <a:t>🌍  On a real site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7D2E6"/>
                </a:solidFill>
                <a:latin typeface="Segoe UI"/>
              </a:rPr>
              <a:t>It knows the actual roads, sun, wind and neighbours around your plot — not a blank canvas.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468880"/>
            <a:ext cx="54864" cy="1737360"/>
          </a:xfrm>
          <a:prstGeom prst="rect">
            <a:avLst/>
          </a:prstGeom>
          <a:solidFill>
            <a:srgbClr val="7C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19" y="2468880"/>
            <a:ext cx="3474720" cy="1737360"/>
          </a:xfrm>
          <a:prstGeom prst="rect">
            <a:avLst/>
          </a:prstGeom>
          <a:solidFill>
            <a:srgbClr val="0D1628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57F2E6"/>
                </a:solidFill>
                <a:latin typeface="Segoe UI"/>
              </a:rPr>
              <a:t>🧠  And it explains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7D2E6"/>
                </a:solidFill>
                <a:latin typeface="Segoe UI"/>
              </a:rPr>
              <a:t>Every change carries an intent, a confidence, and a WHY. It tells you what's real vs estimated.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2468880"/>
            <a:ext cx="54864" cy="1737360"/>
          </a:xfrm>
          <a:prstGeom prst="rect">
            <a:avLst/>
          </a:prstGeom>
          <a:solidFill>
            <a:srgbClr val="57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434840"/>
            <a:ext cx="2651760" cy="960120"/>
          </a:xfrm>
          <a:prstGeom prst="rect">
            <a:avLst/>
          </a:prstGeom>
          <a:solidFill>
            <a:srgbClr val="0D1628"/>
          </a:solidFill>
          <a:ln w="15875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57F2E6"/>
                </a:solidFill>
                <a:latin typeface="Segoe UI"/>
              </a:rPr>
              <a:t>2000 m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B97AD"/>
                </a:solidFill>
                <a:latin typeface="Segoe UI"/>
              </a:rPr>
              <a:t>OSM context radius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4434840"/>
            <a:ext cx="2651760" cy="960120"/>
          </a:xfrm>
          <a:prstGeom prst="rect">
            <a:avLst/>
          </a:prstGeom>
          <a:solidFill>
            <a:srgbClr val="0D1628"/>
          </a:solidFill>
          <a:ln w="15875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57F2E6"/>
                </a:solidFill>
                <a:latin typeface="Segoe UI"/>
              </a:rPr>
              <a:t>16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B97AD"/>
                </a:solidFill>
                <a:latin typeface="Segoe UI"/>
              </a:rPr>
              <a:t>scoring objectives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434840"/>
            <a:ext cx="2651760" cy="960120"/>
          </a:xfrm>
          <a:prstGeom prst="rect">
            <a:avLst/>
          </a:prstGeom>
          <a:solidFill>
            <a:srgbClr val="0D1628"/>
          </a:solidFill>
          <a:ln w="15875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57F2E6"/>
                </a:solidFill>
                <a:latin typeface="Segoe UI"/>
              </a:rPr>
              <a:t>8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B97AD"/>
                </a:solidFill>
                <a:latin typeface="Segoe UI"/>
              </a:rPr>
              <a:t>named strategies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6839" y="4434840"/>
            <a:ext cx="2651760" cy="960120"/>
          </a:xfrm>
          <a:prstGeom prst="rect">
            <a:avLst/>
          </a:prstGeom>
          <a:solidFill>
            <a:srgbClr val="0D1628"/>
          </a:solidFill>
          <a:ln w="15875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57F2E6"/>
                </a:solidFill>
                <a:latin typeface="Segoe UI"/>
              </a:rPr>
              <a:t>3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B97AD"/>
                </a:solidFill>
                <a:latin typeface="Segoe UI"/>
              </a:rPr>
              <a:t>understanding layers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4" name="Picture 13" descr="terrapilot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8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8E0D0"/>
                </a:solidFill>
                <a:latin typeface="Segoe UI"/>
              </a:rPr>
              <a:t>THE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3300" b="1" i="0">
                <a:solidFill>
                  <a:srgbClr val="EAF2FF"/>
                </a:solidFill>
                <a:latin typeface="Segoe UI"/>
              </a:rPr>
              <a:t>One guided </a:t>
            </a:r>
            <a:r>
              <a:rPr sz="3300" b="1" i="0">
                <a:solidFill>
                  <a:srgbClr val="57F2E6"/>
                </a:solidFill>
                <a:latin typeface="Segoe UI"/>
              </a:rPr>
              <a:t>workflow</a:t>
            </a:r>
            <a:r>
              <a:rPr sz="3300" b="1" i="0">
                <a:solidFill>
                  <a:srgbClr val="EAF2FF"/>
                </a:solidFill>
                <a:latin typeface="Segoe UI"/>
              </a:rPr>
              <a:t>, seven stages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2651760" cy="1325880"/>
          </a:xfrm>
          <a:prstGeom prst="rect">
            <a:avLst/>
          </a:prstGeom>
          <a:solidFill>
            <a:srgbClr val="0D1628"/>
          </a:solidFill>
          <a:ln w="15875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28E0D0"/>
                </a:solidFill>
                <a:latin typeface="Segoe UI"/>
              </a:rPr>
              <a:t>📍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</a:rPr>
              <a:t>01 Site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B97AD"/>
                </a:solidFill>
                <a:latin typeface="Segoe UI"/>
              </a:rPr>
              <a:t>Define the plot.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920240"/>
            <a:ext cx="2651760" cy="1325880"/>
          </a:xfrm>
          <a:prstGeom prst="rect">
            <a:avLst/>
          </a:prstGeom>
          <a:solidFill>
            <a:srgbClr val="0D1628"/>
          </a:solidFill>
          <a:ln w="15875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28E0D0"/>
                </a:solidFill>
                <a:latin typeface="Segoe UI"/>
              </a:rPr>
              <a:t>⬡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</a:rPr>
              <a:t>02 Boundary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B97AD"/>
                </a:solidFill>
                <a:latin typeface="Segoe UI"/>
              </a:rPr>
              <a:t>Auto setbacks.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920240"/>
            <a:ext cx="2651760" cy="1325880"/>
          </a:xfrm>
          <a:prstGeom prst="rect">
            <a:avLst/>
          </a:prstGeom>
          <a:solidFill>
            <a:srgbClr val="0D1628"/>
          </a:solidFill>
          <a:ln w="15875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28E0D0"/>
                </a:solidFill>
                <a:latin typeface="Segoe UI"/>
              </a:rPr>
              <a:t>🛰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</a:rPr>
              <a:t>03 Context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B97AD"/>
                </a:solidFill>
                <a:latin typeface="Segoe UI"/>
              </a:rPr>
              <a:t>OSM digital twin.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9006839" y="1920240"/>
            <a:ext cx="2651760" cy="1325880"/>
          </a:xfrm>
          <a:prstGeom prst="rect">
            <a:avLst/>
          </a:prstGeom>
          <a:solidFill>
            <a:srgbClr val="0D1628"/>
          </a:solidFill>
          <a:ln w="15875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28E0D0"/>
                </a:solidFill>
                <a:latin typeface="Segoe UI"/>
              </a:rPr>
              <a:t>◈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</a:rPr>
              <a:t>04 Shape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B97AD"/>
                </a:solidFill>
                <a:latin typeface="Segoe UI"/>
              </a:rPr>
              <a:t>Generate &amp; edit.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74720"/>
            <a:ext cx="2651760" cy="1325880"/>
          </a:xfrm>
          <a:prstGeom prst="rect">
            <a:avLst/>
          </a:prstGeom>
          <a:solidFill>
            <a:srgbClr val="0D1628"/>
          </a:solidFill>
          <a:ln w="15875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28E0D0"/>
                </a:solidFill>
                <a:latin typeface="Segoe UI"/>
              </a:rPr>
              <a:t>⚙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</a:rPr>
              <a:t>05 Optimize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B97AD"/>
                </a:solidFill>
                <a:latin typeface="Segoe UI"/>
              </a:rPr>
              <a:t>Multi-objective Pareto.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3474720"/>
            <a:ext cx="2651760" cy="1325880"/>
          </a:xfrm>
          <a:prstGeom prst="rect">
            <a:avLst/>
          </a:prstGeom>
          <a:solidFill>
            <a:srgbClr val="0D1628"/>
          </a:solidFill>
          <a:ln w="15875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28E0D0"/>
                </a:solidFill>
                <a:latin typeface="Segoe UI"/>
              </a:rPr>
              <a:t>▦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</a:rPr>
              <a:t>06 Compare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B97AD"/>
                </a:solidFill>
                <a:latin typeface="Segoe UI"/>
              </a:rPr>
              <a:t>Side by side.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474720"/>
            <a:ext cx="2651760" cy="1325880"/>
          </a:xfrm>
          <a:prstGeom prst="rect">
            <a:avLst/>
          </a:prstGeom>
          <a:solidFill>
            <a:srgbClr val="0D1628"/>
          </a:solidFill>
          <a:ln w="15875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28E0D0"/>
                </a:solidFill>
                <a:latin typeface="Segoe UI"/>
              </a:rPr>
              <a:t>⬇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</a:rPr>
              <a:t>07 Export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B97AD"/>
                </a:solidFill>
                <a:latin typeface="Segoe UI"/>
              </a:rPr>
              <a:t>Rhino / Revit IFC.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7C7BFF"/>
                </a:solidFill>
                <a:latin typeface="Segoe UI"/>
              </a:rPr>
              <a:t>Backend enforces the order: shape generation + selection must precede optimization.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" name="Picture 8" descr="terrapilot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8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8E0D0"/>
                </a:solidFill>
                <a:latin typeface="Segoe UI"/>
              </a:rPr>
              <a:t>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3300" b="1" i="0">
                <a:solidFill>
                  <a:srgbClr val="EAF2FF"/>
                </a:solidFill>
                <a:latin typeface="Segoe UI"/>
              </a:rPr>
              <a:t>How the </a:t>
            </a:r>
            <a:r>
              <a:rPr sz="3300" b="1" i="0">
                <a:solidFill>
                  <a:srgbClr val="57F2E6"/>
                </a:solidFill>
                <a:latin typeface="Segoe UI"/>
              </a:rPr>
              <a:t>frontend &amp; backend</a:t>
            </a:r>
            <a:r>
              <a:rPr sz="3300" b="1" i="0">
                <a:solidFill>
                  <a:srgbClr val="EAF2FF"/>
                </a:solidFill>
                <a:latin typeface="Segoe UI"/>
              </a:rPr>
              <a:t> work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5212080" cy="4206240"/>
          </a:xfrm>
          <a:prstGeom prst="rect">
            <a:avLst/>
          </a:prstGeom>
          <a:solidFill>
            <a:srgbClr val="0D1628"/>
          </a:solidFill>
          <a:ln w="15875">
            <a:solidFill>
              <a:srgbClr val="28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57F2E6"/>
                </a:solidFill>
                <a:latin typeface="Segoe UI"/>
              </a:rPr>
              <a:t>🖥  Frontend · vanilla JS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8E0D0"/>
                </a:solidFill>
                <a:latin typeface="Consolas"/>
              </a:rPr>
              <a:t>copilotClient.js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Routes your message to the right action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8E0D0"/>
                </a:solidFill>
                <a:latin typeface="Consolas"/>
              </a:rPr>
              <a:t>core/store.js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Single source of truth — UI reacts to state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8E0D0"/>
                </a:solidFill>
                <a:latin typeface="Consolas"/>
              </a:rPr>
              <a:t>views/viewerView.js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3D building — extrudes each floor plate at its Z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8E0D0"/>
                </a:solidFill>
                <a:latin typeface="Consolas"/>
              </a:rPr>
              <a:t>panels/healthDashboard.js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Live scores, re-evaluates on every edit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645920"/>
            <a:ext cx="5212080" cy="4206240"/>
          </a:xfrm>
          <a:prstGeom prst="rect">
            <a:avLst/>
          </a:prstGeom>
          <a:solidFill>
            <a:srgbClr val="0D1628"/>
          </a:solidFill>
          <a:ln w="15875">
            <a:solidFill>
              <a:srgbClr val="7C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C9C8FF"/>
                </a:solidFill>
                <a:latin typeface="Segoe UI"/>
              </a:rPr>
              <a:t>⚙  Backend · FastAPI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7BFF"/>
                </a:solidFill>
                <a:latin typeface="Consolas"/>
              </a:rPr>
              <a:t>connection/routes/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API endpoints — thin wrappers, no duplicated logic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7BFF"/>
                </a:solidFill>
                <a:latin typeface="Consolas"/>
              </a:rPr>
              <a:t>connection/nodes/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3-layer prompt understanding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7BFF"/>
                </a:solidFill>
                <a:latin typeface="Consolas"/>
              </a:rPr>
              <a:t>notebook_logic/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Geometry engine — manipulate, transform, floor plates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C7BFF"/>
                </a:solidFill>
                <a:latin typeface="Consolas"/>
              </a:rPr>
              <a:t>optimization/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16 scorers + Pareto selector + env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7C7BFF"/>
                </a:solidFill>
                <a:latin typeface="Segoe UI"/>
              </a:rPr>
              <a:t>One shared runtime — the notebooks and the UI call the same engine. JSON over HTTP between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8" name="Picture 17" descr="terrapilot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8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8E0D0"/>
                </a:solidFill>
                <a:latin typeface="Segoe UI"/>
              </a:rPr>
              <a:t>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3300" b="1" i="0">
                <a:solidFill>
                  <a:srgbClr val="EAF2FF"/>
                </a:solidFill>
                <a:latin typeface="Segoe UI"/>
              </a:rPr>
              <a:t>Watch a </a:t>
            </a:r>
            <a:r>
              <a:rPr sz="3300" b="1" i="0">
                <a:solidFill>
                  <a:srgbClr val="57F2E6"/>
                </a:solidFill>
                <a:latin typeface="Segoe UI"/>
              </a:rPr>
              <a:t>prompt flow</a:t>
            </a:r>
            <a:r>
              <a:rPr sz="3300" b="1" i="0">
                <a:solidFill>
                  <a:srgbClr val="EAF2FF"/>
                </a:solidFill>
                <a:latin typeface="Segoe UI"/>
              </a:rPr>
              <a:t> through the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8B97AD"/>
                </a:solidFill>
                <a:latin typeface="Segoe UI"/>
              </a:rPr>
              <a:t>“Give it a futuristic twist” — from the chat box to the sculpted 3D building.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286000"/>
            <a:ext cx="2103120" cy="1554480"/>
          </a:xfrm>
          <a:prstGeom prst="rect">
            <a:avLst/>
          </a:prstGeom>
          <a:solidFill>
            <a:srgbClr val="0D1628"/>
          </a:solidFill>
          <a:ln w="15875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00" b="0" i="0">
                <a:solidFill>
                  <a:srgbClr val="28E0D0"/>
                </a:solidFill>
                <a:latin typeface="Segoe UI"/>
              </a:rPr>
              <a:t>💬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EAF2FF"/>
                </a:solidFill>
                <a:latin typeface="Segoe UI"/>
              </a:rPr>
              <a:t>Chat input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8B97AD"/>
                </a:solidFill>
                <a:latin typeface="Segoe UI"/>
              </a:rPr>
              <a:t>User types intent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7F2E6"/>
                </a:solidFill>
                <a:latin typeface="Consolas"/>
              </a:rPr>
              <a:t>copilotClient.js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743200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7C7BFF"/>
                </a:solidFill>
                <a:latin typeface="Segoe U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2286000"/>
            <a:ext cx="2103120" cy="1554480"/>
          </a:xfrm>
          <a:prstGeom prst="rect">
            <a:avLst/>
          </a:prstGeom>
          <a:solidFill>
            <a:srgbClr val="0D1628"/>
          </a:solidFill>
          <a:ln w="15875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00" b="0" i="0">
                <a:solidFill>
                  <a:srgbClr val="28E0D0"/>
                </a:solidFill>
                <a:latin typeface="Segoe UI"/>
              </a:rPr>
              <a:t>🔀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EAF2FF"/>
                </a:solidFill>
                <a:latin typeface="Segoe UI"/>
              </a:rPr>
              <a:t>API route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8B97AD"/>
                </a:solidFill>
                <a:latin typeface="Segoe UI"/>
              </a:rPr>
              <a:t>/feedback endpoint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7F2E6"/>
                </a:solidFill>
                <a:latin typeface="Consolas"/>
              </a:rPr>
              <a:t>feedback_routes.py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743200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7C7BFF"/>
                </a:solidFill>
                <a:latin typeface="Segoe U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2286000"/>
            <a:ext cx="2103120" cy="1554480"/>
          </a:xfrm>
          <a:prstGeom prst="rect">
            <a:avLst/>
          </a:prstGeom>
          <a:solidFill>
            <a:srgbClr val="0D1628"/>
          </a:solidFill>
          <a:ln w="15875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00" b="0" i="0">
                <a:solidFill>
                  <a:srgbClr val="28E0D0"/>
                </a:solidFill>
                <a:latin typeface="Segoe UI"/>
              </a:rPr>
              <a:t>🧠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EAF2FF"/>
                </a:solidFill>
                <a:latin typeface="Segoe UI"/>
              </a:rPr>
              <a:t>Understand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8B97AD"/>
                </a:solidFill>
                <a:latin typeface="Segoe UI"/>
              </a:rPr>
              <a:t>3-layer → intent + WHY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7F2E6"/>
                </a:solidFill>
                <a:latin typeface="Consolas"/>
              </a:rPr>
              <a:t>nodes/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743200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7C7BFF"/>
                </a:solidFill>
                <a:latin typeface="Segoe U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60920" y="2286000"/>
            <a:ext cx="2103120" cy="1554480"/>
          </a:xfrm>
          <a:prstGeom prst="rect">
            <a:avLst/>
          </a:prstGeom>
          <a:solidFill>
            <a:srgbClr val="0D1628"/>
          </a:solidFill>
          <a:ln w="15875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00" b="0" i="0">
                <a:solidFill>
                  <a:srgbClr val="28E0D0"/>
                </a:solidFill>
                <a:latin typeface="Segoe UI"/>
              </a:rPr>
              <a:t>📐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EAF2FF"/>
                </a:solidFill>
                <a:latin typeface="Segoe UI"/>
              </a:rPr>
              <a:t>Geometry op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8B97AD"/>
                </a:solidFill>
                <a:latin typeface="Segoe UI"/>
              </a:rPr>
              <a:t>twist the plate stack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7F2E6"/>
                </a:solidFill>
                <a:latin typeface="Consolas"/>
              </a:rPr>
              <a:t>notebook_logic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743200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7C7BFF"/>
                </a:solidFill>
                <a:latin typeface="Segoe U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46920" y="2286000"/>
            <a:ext cx="2103120" cy="1554480"/>
          </a:xfrm>
          <a:prstGeom prst="rect">
            <a:avLst/>
          </a:prstGeom>
          <a:solidFill>
            <a:srgbClr val="0D1628"/>
          </a:solidFill>
          <a:ln w="15875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00" b="0" i="0">
                <a:solidFill>
                  <a:srgbClr val="28E0D0"/>
                </a:solidFill>
                <a:latin typeface="Segoe UI"/>
              </a:rPr>
              <a:t>🧊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EAF2FF"/>
                </a:solidFill>
                <a:latin typeface="Segoe UI"/>
              </a:rPr>
              <a:t>3D viewer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8B97AD"/>
                </a:solidFill>
                <a:latin typeface="Segoe UI"/>
              </a:rPr>
              <a:t>building updates live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7F2E6"/>
                </a:solidFill>
                <a:latin typeface="Consolas"/>
              </a:rPr>
              <a:t>viewerView.js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7F2E6"/>
                </a:solidFill>
                <a:latin typeface="Segoe UI"/>
              </a:rPr>
              <a:t>① Intent: change_character      ② Op: twist · confidence 0.9      ③ Plates re-transformed, holes kept      ④ Response → store → viewer re-renders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7C7BFF"/>
                </a:solidFill>
                <a:latin typeface="Segoe UI"/>
              </a:rPr>
              <a:t>Every hop is real — the same path runs for a command, a vague intent, or "align to the road".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" name="Picture 7" descr="terrapilot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8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8E0D0"/>
                </a:solidFill>
                <a:latin typeface="Segoe UI"/>
              </a:rPr>
              <a:t>STAGE 1–3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3300" b="1" i="0">
                <a:solidFill>
                  <a:srgbClr val="EAF2FF"/>
                </a:solidFill>
                <a:latin typeface="Segoe UI"/>
              </a:rPr>
              <a:t>A </a:t>
            </a:r>
            <a:r>
              <a:rPr sz="3300" b="1" i="0">
                <a:solidFill>
                  <a:srgbClr val="57F2E6"/>
                </a:solidFill>
                <a:latin typeface="Segoe UI"/>
              </a:rPr>
              <a:t>digital twin</a:t>
            </a:r>
            <a:r>
              <a:rPr sz="3300" b="1" i="0">
                <a:solidFill>
                  <a:srgbClr val="EAF2FF"/>
                </a:solidFill>
                <a:latin typeface="Segoe UI"/>
              </a:rPr>
              <a:t> of the surroundings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6035040" cy="38404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EAF2FF"/>
                </a:solidFill>
                <a:latin typeface="Segoe UI"/>
              </a:rPr>
              <a:t>▸  Real OpenStreetMap data in a 2 km radius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  Roads, transit, parks, amenities &amp; neighbouring buildings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EAF2FF"/>
                </a:solidFill>
                <a:latin typeface="Segoe UI"/>
              </a:rPr>
              <a:t>▸  Edge intelligence — every site edge named by compass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  "north edge", "road-facing edge" become design targets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EAF2FF"/>
                </a:solidFill>
                <a:latin typeface="Segoe UI"/>
              </a:rPr>
              <a:t>▸  10 context scores computed once &amp; cached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  Feeds noise, view, access &amp; density objectives later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EAF2FF"/>
                </a:solidFill>
                <a:latin typeface="Segoe UI"/>
              </a:rPr>
              <a:t>▸  Automatic setbacks define the buildable area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  Nothing can be placed outside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1737360"/>
            <a:ext cx="4572000" cy="3749039"/>
          </a:xfrm>
          <a:prstGeom prst="rect">
            <a:avLst/>
          </a:prstGeom>
          <a:solidFill>
            <a:srgbClr val="0D1628"/>
          </a:solidFill>
          <a:ln w="15875">
            <a:solidFill>
              <a:srgbClr val="28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7F2E6"/>
                </a:solidFill>
                <a:latin typeface="Segoe UI"/>
              </a:rPr>
              <a:t>● Live Design Health</a:t>
            </a:r>
          </a:p>
          <a:p>
            <a:pPr>
              <a:spcAft>
                <a:spcPts val="8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</a:rPr>
              <a:t>☀ Solar</a:t>
            </a:r>
            <a:r>
              <a:rPr sz="1250" b="1" i="0">
                <a:solidFill>
                  <a:srgbClr val="FFB454"/>
                </a:solidFill>
                <a:latin typeface="Segoe UI"/>
              </a:rPr>
              <a:t>   █████████  66</a:t>
            </a:r>
          </a:p>
          <a:p>
            <a:pPr>
              <a:spcAft>
                <a:spcPts val="8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</a:rPr>
              <a:t>👁 View</a:t>
            </a:r>
            <a:r>
              <a:rPr sz="1250" b="1" i="0">
                <a:solidFill>
                  <a:srgbClr val="57F2E6"/>
                </a:solidFill>
                <a:latin typeface="Segoe UI"/>
              </a:rPr>
              <a:t>   ██████████████  98</a:t>
            </a:r>
          </a:p>
          <a:p>
            <a:pPr>
              <a:spcAft>
                <a:spcPts val="8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</a:rPr>
              <a:t>🔊 Noise</a:t>
            </a:r>
            <a:r>
              <a:rPr sz="1250" b="1" i="0">
                <a:solidFill>
                  <a:srgbClr val="7C7BFF"/>
                </a:solidFill>
                <a:latin typeface="Segoe UI"/>
              </a:rPr>
              <a:t>   ██  14</a:t>
            </a:r>
          </a:p>
          <a:p>
            <a:pPr>
              <a:spcAft>
                <a:spcPts val="8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</a:rPr>
              <a:t>💨 Wind</a:t>
            </a:r>
            <a:r>
              <a:rPr sz="1250" b="1" i="0">
                <a:solidFill>
                  <a:srgbClr val="38BDF8"/>
                </a:solidFill>
                <a:latin typeface="Segoe UI"/>
              </a:rPr>
              <a:t>   █████████  64</a:t>
            </a:r>
          </a:p>
          <a:p>
            <a:pPr>
              <a:spcAft>
                <a:spcPts val="800"/>
              </a:spcAft>
            </a:pPr>
            <a:r>
              <a:rPr sz="1250" b="0" i="0">
                <a:solidFill>
                  <a:srgbClr val="EAF2FF"/>
                </a:solidFill>
                <a:latin typeface="Segoe UI"/>
              </a:rPr>
              <a:t>🏢 Density</a:t>
            </a:r>
            <a:r>
              <a:rPr sz="1250" b="1" i="0">
                <a:solidFill>
                  <a:srgbClr val="FF8FA3"/>
                </a:solidFill>
                <a:latin typeface="Segoe UI"/>
              </a:rPr>
              <a:t>   ████████  56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B97AD"/>
                </a:solidFill>
                <a:latin typeface="Segoe UI"/>
              </a:rPr>
              <a:t>Draggable · minimizable · updates live · shows geometry → real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" name="Picture 8" descr="terrapilot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8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8E0D0"/>
                </a:solidFill>
                <a:latin typeface="Segoe UI"/>
              </a:rPr>
              <a:t>STAGE 4 · MANIPULATION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3300" b="1" i="0">
                <a:solidFill>
                  <a:srgbClr val="EAF2FF"/>
                </a:solidFill>
                <a:latin typeface="Segoe UI"/>
              </a:rPr>
              <a:t>Sculpt the building by </a:t>
            </a:r>
            <a:r>
              <a:rPr sz="3300" b="1" i="0">
                <a:solidFill>
                  <a:srgbClr val="57F2E6"/>
                </a:solidFill>
                <a:latin typeface="Segoe UI"/>
              </a:rPr>
              <a:t>talking</a:t>
            </a:r>
            <a:r>
              <a:rPr sz="3300" b="1" i="0">
                <a:solidFill>
                  <a:srgbClr val="EAF2FF"/>
                </a:solidFill>
                <a:latin typeface="Segoe UI"/>
              </a:rPr>
              <a:t> to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120640" cy="3840480"/>
          </a:xfrm>
          <a:prstGeom prst="rect">
            <a:avLst/>
          </a:prstGeom>
          <a:solidFill>
            <a:srgbClr val="0D1628"/>
          </a:solidFill>
          <a:ln w="15875">
            <a:solidFill>
              <a:srgbClr val="7C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4663440" cy="32918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57F2E6"/>
                </a:solidFill>
                <a:latin typeface="Segoe UI"/>
              </a:rPr>
              <a:t>💬  “Design me an 8-storey tower”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EAF2FF"/>
                </a:solidFill>
                <a:latin typeface="Segoe UI"/>
              </a:rPr>
              <a:t>→ “give it a futuristic twist”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EAF2FF"/>
                </a:solidFill>
                <a:latin typeface="Segoe UI"/>
              </a:rPr>
              <a:t>→ “carve a courtyard”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EAF2FF"/>
                </a:solidFill>
                <a:latin typeface="Segoe UI"/>
              </a:rPr>
              <a:t>→ “add 2 floors on the right wing”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8B97AD"/>
                </a:solidFill>
                <a:latin typeface="Segoe UI"/>
              </a:rPr>
              <a:t>Real geometry updates live in 3D after every prompt.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828800"/>
            <a:ext cx="5394960" cy="36576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EAF2FF"/>
                </a:solidFill>
                <a:latin typeface="Segoe UI"/>
              </a:rPr>
              <a:t>▸  Natural-language intent, not commands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  “Give it a futuristic twist”, “carve a courtyard”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EAF2FF"/>
                </a:solidFill>
                <a:latin typeface="Segoe UI"/>
              </a:rPr>
              <a:t>▸  Floor-plate model — a stack of plates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  Edit per-floor AND per-wing, not the whole block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EAF2FF"/>
                </a:solidFill>
                <a:latin typeface="Segoe UI"/>
              </a:rPr>
              <a:t>▸  Real geometry every time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  Holes, wings &amp; twist travel through every transform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1" i="0">
                <a:solidFill>
                  <a:srgbClr val="EAF2FF"/>
                </a:solidFill>
                <a:latin typeface="Segoe UI"/>
              </a:rPr>
              <a:t>▸  Save any version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  → preview &amp; optimize it later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6" name="Picture 15" descr="terrapilot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8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8E0D0"/>
                </a:solidFill>
                <a:latin typeface="Segoe UI"/>
              </a:rPr>
              <a:t>THE BRAIN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3300" b="1" i="0">
                <a:solidFill>
                  <a:srgbClr val="EAF2FF"/>
                </a:solidFill>
                <a:latin typeface="Segoe UI"/>
              </a:rPr>
              <a:t>How we </a:t>
            </a:r>
            <a:r>
              <a:rPr sz="3300" b="1" i="0">
                <a:solidFill>
                  <a:srgbClr val="57F2E6"/>
                </a:solidFill>
                <a:latin typeface="Segoe UI"/>
              </a:rPr>
              <a:t>break &amp; understand</a:t>
            </a:r>
            <a:r>
              <a:rPr sz="3300" b="1" i="0">
                <a:solidFill>
                  <a:srgbClr val="EAF2FF"/>
                </a:solidFill>
                <a:latin typeface="Segoe UI"/>
              </a:rPr>
              <a:t> a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B97AD"/>
                </a:solidFill>
                <a:latin typeface="Segoe UI"/>
              </a:rPr>
              <a:t>Every message flows through a 3-layer pipeline — most specific first, smartest fallback last.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3474720" cy="1691640"/>
          </a:xfrm>
          <a:prstGeom prst="rect">
            <a:avLst/>
          </a:prstGeom>
          <a:solidFill>
            <a:srgbClr val="0D1628"/>
          </a:solidFill>
          <a:ln w="15875">
            <a:solidFill>
              <a:srgbClr val="28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28E0D0"/>
                </a:solidFill>
                <a:latin typeface="Segoe UI"/>
              </a:rPr>
              <a:t>⌨️  LAYER 1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</a:rPr>
              <a:t>Direct command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B97AD"/>
                </a:solidFill>
                <a:latin typeface="Segoe UI"/>
              </a:rPr>
              <a:t>Exact instructions — “add 2 floors”, “rotate 30°”.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651760"/>
            <a:ext cx="41148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7C7BFF"/>
                </a:solidFill>
                <a:latin typeface="Segoe U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2148840"/>
            <a:ext cx="3474720" cy="1691640"/>
          </a:xfrm>
          <a:prstGeom prst="rect">
            <a:avLst/>
          </a:prstGeom>
          <a:solidFill>
            <a:srgbClr val="0D1628"/>
          </a:solidFill>
          <a:ln w="15875">
            <a:solidFill>
              <a:srgbClr val="7C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7C7BFF"/>
                </a:solidFill>
                <a:latin typeface="Segoe UI"/>
              </a:rPr>
              <a:t>🧩  LAYER 2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</a:rPr>
              <a:t>Semantic intent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B97AD"/>
                </a:solidFill>
                <a:latin typeface="Segoe UI"/>
              </a:rPr>
              <a:t>The LLM reads a feeling — “let in more daylight”.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2651760"/>
            <a:ext cx="411480" cy="5486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7C7BFF"/>
                </a:solidFill>
                <a:latin typeface="Segoe U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19" y="2148840"/>
            <a:ext cx="3474720" cy="1691640"/>
          </a:xfrm>
          <a:prstGeom prst="rect">
            <a:avLst/>
          </a:prstGeom>
          <a:solidFill>
            <a:srgbClr val="0D1628"/>
          </a:solidFill>
          <a:ln w="15875">
            <a:solidFill>
              <a:srgbClr val="57F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wrap="square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7F2E6"/>
                </a:solidFill>
                <a:latin typeface="Segoe UI"/>
              </a:rPr>
              <a:t>🧠  LAYER 3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AF2FF"/>
                </a:solidFill>
                <a:latin typeface="Segoe UI"/>
              </a:rPr>
              <a:t>Reason Node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B97AD"/>
                </a:solidFill>
                <a:latin typeface="Segoe UI"/>
              </a:rPr>
              <a:t>Decides the move + the WHY, with confidence.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14800"/>
            <a:ext cx="5303520" cy="1463040"/>
          </a:xfrm>
          <a:prstGeom prst="rect">
            <a:avLst/>
          </a:prstGeom>
          <a:solidFill>
            <a:srgbClr val="0D1628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28E0D0"/>
                </a:solidFill>
                <a:latin typeface="Segoe UI"/>
              </a:rPr>
              <a:t>🔁  Two-tier fallback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7D2E6"/>
                </a:solidFill>
                <a:latin typeface="Segoe UI"/>
              </a:rPr>
              <a:t>Gemini → Cloudflare → keyword matching. It never dies on an API quota — the fallback is load-bearing.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114800"/>
            <a:ext cx="54864" cy="1463040"/>
          </a:xfrm>
          <a:prstGeom prst="rect">
            <a:avLst/>
          </a:prstGeom>
          <a:solidFill>
            <a:srgbClr val="28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4114800"/>
            <a:ext cx="5303520" cy="1463040"/>
          </a:xfrm>
          <a:prstGeom prst="rect">
            <a:avLst/>
          </a:prstGeom>
          <a:solidFill>
            <a:srgbClr val="0D1628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FF8FA3"/>
                </a:solidFill>
                <a:latin typeface="Segoe UI"/>
              </a:rPr>
              <a:t>🛡️  Hallucination guard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7D2E6"/>
                </a:solidFill>
                <a:latin typeface="Segoe UI"/>
              </a:rPr>
              <a:t>If a prompt matches no real operation, we reject it — never fake a change to look successful.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114800"/>
            <a:ext cx="54864" cy="1463040"/>
          </a:xfrm>
          <a:prstGeom prst="rect">
            <a:avLst/>
          </a:prstGeom>
          <a:solidFill>
            <a:srgbClr val="FF8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terrapilot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8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8E0D0"/>
                </a:solidFill>
                <a:latin typeface="Segoe UI"/>
              </a:rPr>
              <a:t>THE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3300" b="1" i="0">
                <a:solidFill>
                  <a:srgbClr val="EAF2FF"/>
                </a:solidFill>
                <a:latin typeface="Segoe UI"/>
              </a:rPr>
              <a:t>Multi-objective </a:t>
            </a:r>
            <a:r>
              <a:rPr sz="3300" b="1" i="0">
                <a:solidFill>
                  <a:srgbClr val="57F2E6"/>
                </a:solidFill>
                <a:latin typeface="Segoe UI"/>
              </a:rPr>
              <a:t>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212080" cy="1188720"/>
          </a:xfrm>
          <a:prstGeom prst="rect">
            <a:avLst/>
          </a:prstGeom>
          <a:solidFill>
            <a:srgbClr val="0D1628"/>
          </a:solidFill>
          <a:ln w="15875">
            <a:solidFill>
              <a:srgbClr val="28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7F2E6"/>
                </a:solidFill>
                <a:latin typeface="Segoe UI"/>
              </a:rPr>
              <a:t>🎲 POOL — Candidates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B97AD"/>
                </a:solidFill>
                <a:latin typeface="Segoe UI"/>
              </a:rPr>
              <a:t>Placement × rotation × massing — large, diverse pool.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154680"/>
            <a:ext cx="5212080" cy="1188720"/>
          </a:xfrm>
          <a:prstGeom prst="rect">
            <a:avLst/>
          </a:prstGeom>
          <a:solidFill>
            <a:srgbClr val="0D1628"/>
          </a:solidFill>
          <a:ln w="15875">
            <a:solidFill>
              <a:srgbClr val="28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7F2E6"/>
                </a:solidFill>
                <a:latin typeface="Segoe UI"/>
              </a:rPr>
              <a:t>📊 SCORE — Every objective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B97AD"/>
                </a:solidFill>
                <a:latin typeface="Segoe UI"/>
              </a:rPr>
              <a:t>16 scorers per candidate, cached site memory.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480560"/>
            <a:ext cx="5212080" cy="1188720"/>
          </a:xfrm>
          <a:prstGeom prst="rect">
            <a:avLst/>
          </a:prstGeom>
          <a:solidFill>
            <a:srgbClr val="0D1628"/>
          </a:solidFill>
          <a:ln w="15875">
            <a:solidFill>
              <a:srgbClr val="28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7F2E6"/>
                </a:solidFill>
                <a:latin typeface="Segoe UI"/>
              </a:rPr>
              <a:t>⭐ SELECT — 8 strategies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8B97AD"/>
                </a:solidFill>
                <a:latin typeface="Segoe UI"/>
              </a:rPr>
              <a:t>Diverse, named options from the Pareto front.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828800"/>
            <a:ext cx="5212080" cy="3657600"/>
          </a:xfrm>
          <a:prstGeom prst="rect">
            <a:avLst/>
          </a:prstGeom>
          <a:solidFill>
            <a:srgbClr val="0D1628"/>
          </a:solidFill>
          <a:ln w="15875">
            <a:solidFill>
              <a:srgbClr val="7C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57F2E6"/>
                </a:solidFill>
                <a:latin typeface="Segoe UI"/>
              </a:rPr>
              <a:t>True Pareto front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EAF2FF"/>
                </a:solidFill>
                <a:latin typeface="Segoe UI"/>
              </a:rPr>
              <a:t>A diverse set of non-dominated options — each best at a different trade-off, so you choose by priority, not a single 'winner'.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28E0D0"/>
                </a:solidFill>
                <a:latin typeface="Segoe UI"/>
              </a:rPr>
              <a:t>☀ Solar    👁 View    🔊 Noise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8E0D0"/>
                </a:solidFill>
                <a:latin typeface="Segoe UI"/>
              </a:rPr>
              <a:t>🌳 Open    💨 Wind    ⚖ Balanced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7C7BFF"/>
                </a:solidFill>
                <a:latin typeface="Segoe UI"/>
              </a:rPr>
              <a:t>Honest engineering: scores use real NASA POWER climate + OSM data. Missing data shows N/A, never invented.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Picture 12" descr="terrapilot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8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8E0D0"/>
                </a:solidFill>
                <a:latin typeface="Segoe UI"/>
              </a:rPr>
              <a:t>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3300" b="1" i="0">
                <a:solidFill>
                  <a:srgbClr val="EAF2FF"/>
                </a:solidFill>
                <a:latin typeface="Segoe UI"/>
              </a:rPr>
              <a:t>The hard problems we </a:t>
            </a:r>
            <a:r>
              <a:rPr sz="3300" b="1" i="0">
                <a:solidFill>
                  <a:srgbClr val="57F2E6"/>
                </a:solidFill>
                <a:latin typeface="Segoe UI"/>
              </a:rPr>
              <a:t>solved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474720" cy="2286000"/>
          </a:xfrm>
          <a:prstGeom prst="rect">
            <a:avLst/>
          </a:prstGeom>
          <a:solidFill>
            <a:srgbClr val="0D1628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28E0D0"/>
                </a:solidFill>
                <a:latin typeface="Segoe UI"/>
              </a:rPr>
              <a:t>🌀  Optimize keeps your edits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7D2E6"/>
                </a:solidFill>
                <a:latin typeface="Segoe UI"/>
              </a:rPr>
              <a:t>Optimizing a manipulated building preserves the twist + added floors — the full floor-plate stack is carried through every step.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4864" cy="2286000"/>
          </a:xfrm>
          <a:prstGeom prst="rect">
            <a:avLst/>
          </a:prstGeom>
          <a:solidFill>
            <a:srgbClr val="28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828800"/>
            <a:ext cx="3474720" cy="2286000"/>
          </a:xfrm>
          <a:prstGeom prst="rect">
            <a:avLst/>
          </a:prstGeom>
          <a:solidFill>
            <a:srgbClr val="0D1628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7C7BFF"/>
                </a:solidFill>
                <a:latin typeface="Segoe UI"/>
              </a:rPr>
              <a:t>🗂️  Saved-shapes explorer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7D2E6"/>
                </a:solidFill>
                <a:latin typeface="Segoe UI"/>
              </a:rPr>
              <a:t>Browse saved designs → preview each in 3D → optimize the exact one you choose. Variants accumulate, never overwrite.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828800"/>
            <a:ext cx="54864" cy="2286000"/>
          </a:xfrm>
          <a:prstGeom prst="rect">
            <a:avLst/>
          </a:prstGeom>
          <a:solidFill>
            <a:srgbClr val="7C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19" y="1828800"/>
            <a:ext cx="3474720" cy="2286000"/>
          </a:xfrm>
          <a:prstGeom prst="rect">
            <a:avLst/>
          </a:prstGeom>
          <a:solidFill>
            <a:srgbClr val="0D1628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57F2E6"/>
                </a:solidFill>
                <a:latin typeface="Segoe UI"/>
              </a:rPr>
              <a:t>🛣️  Context-aware alignment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7D2E6"/>
                </a:solidFill>
                <a:latin typeface="Segoe UI"/>
              </a:rPr>
              <a:t>"Align facade to main road" rotates the building parallel to the real OSM road geometry — not a compass default.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19" y="1828800"/>
            <a:ext cx="54864" cy="2286000"/>
          </a:xfrm>
          <a:prstGeom prst="rect">
            <a:avLst/>
          </a:prstGeom>
          <a:solidFill>
            <a:srgbClr val="57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389120"/>
            <a:ext cx="10881360" cy="1188720"/>
          </a:xfrm>
          <a:prstGeom prst="rect">
            <a:avLst/>
          </a:prstGeom>
          <a:solidFill>
            <a:srgbClr val="0D1628"/>
          </a:solidFill>
          <a:ln w="15875">
            <a:solidFill>
              <a:srgbClr val="57E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wrap="square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AF2FF"/>
                </a:solidFill>
                <a:latin typeface="Segoe UI"/>
              </a:rPr>
              <a:t>All 6 environmental scorers run in dual mode — a geometry estimate AND a real-data value — with a proxy / ● live badge, so you always know which is which.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" name="Picture 7" descr="terrapilot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8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8E0D0"/>
                </a:solidFill>
                <a:latin typeface="Segoe UI"/>
              </a:rPr>
              <a:t>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3300" b="1" i="0">
                <a:solidFill>
                  <a:srgbClr val="EAF2FF"/>
                </a:solidFill>
                <a:latin typeface="Segoe UI"/>
              </a:rPr>
              <a:t>The </a:t>
            </a:r>
            <a:r>
              <a:rPr sz="3300" b="1" i="0">
                <a:solidFill>
                  <a:srgbClr val="57F2E6"/>
                </a:solidFill>
                <a:latin typeface="Segoe UI"/>
              </a:rPr>
              <a:t>backend</a:t>
            </a:r>
            <a:r>
              <a:rPr sz="3300" b="1" i="0">
                <a:solidFill>
                  <a:srgbClr val="EAF2FF"/>
                </a:solidFill>
                <a:latin typeface="Segoe UI"/>
              </a:rPr>
              <a:t>, in one picture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212080" cy="3383280"/>
          </a:xfrm>
          <a:prstGeom prst="rect">
            <a:avLst/>
          </a:prstGeom>
          <a:solidFill>
            <a:srgbClr val="0D1628"/>
          </a:solidFill>
          <a:ln w="15875">
            <a:solidFill>
              <a:srgbClr val="28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7F2E6"/>
                </a:solidFill>
                <a:latin typeface="Segoe UI"/>
              </a:rPr>
              <a:t>FastAPI runtime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AF2FF"/>
                </a:solidFill>
                <a:latin typeface="Segoe UI"/>
              </a:rPr>
              <a:t>▸ One shared engine — notebooks &amp; UI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Routes are thin wrappers over notebook_logic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AF2FF"/>
                </a:solidFill>
                <a:latin typeface="Segoe UI"/>
              </a:rPr>
              <a:t>▸ nodes/ — 3-layer prompt understanding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direct → semantic → reason-node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AF2FF"/>
                </a:solidFill>
                <a:latin typeface="Segoe UI"/>
              </a:rPr>
              <a:t>▸ optimization/ — 16 scorers + Pareto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env_data · site_context_memory · context_enrichment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828800"/>
            <a:ext cx="5212080" cy="3383280"/>
          </a:xfrm>
          <a:prstGeom prst="rect">
            <a:avLst/>
          </a:prstGeom>
          <a:solidFill>
            <a:srgbClr val="0D1628"/>
          </a:solidFill>
          <a:ln w="15875">
            <a:solidFill>
              <a:srgbClr val="7C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C9C8FF"/>
                </a:solidFill>
                <a:latin typeface="Segoe UI"/>
              </a:rPr>
              <a:t>Data &amp; intelligence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AF2FF"/>
                </a:solidFill>
                <a:latin typeface="Segoe UI"/>
              </a:rPr>
              <a:t>▸ NASA POWER — wind, solar, temperature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Fetched once per site, cached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AF2FF"/>
                </a:solidFill>
                <a:latin typeface="Segoe UI"/>
              </a:rPr>
              <a:t>▸ OpenStreetMap — roads, amenities, buildings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Powers noise, access, density, road-align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AF2FF"/>
                </a:solidFill>
                <a:latin typeface="Segoe UI"/>
              </a:rPr>
              <a:t>▸ Shape version manager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8B97AD"/>
                </a:solidFill>
                <a:latin typeface="Segoe UI"/>
              </a:rPr>
              <a:t>   Save / preview / optimize — floor-plate geometry preserved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8" name="Picture 17" descr="terrapilot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8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8E0D0"/>
                </a:solidFill>
                <a:latin typeface="Segoe UI"/>
              </a:rPr>
              <a:t>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3300" b="1" i="0">
                <a:solidFill>
                  <a:srgbClr val="EAF2FF"/>
                </a:solidFill>
                <a:latin typeface="Segoe UI"/>
              </a:rPr>
              <a:t>The agent's </a:t>
            </a:r>
            <a:r>
              <a:rPr sz="3300" b="1" i="0">
                <a:solidFill>
                  <a:srgbClr val="57F2E6"/>
                </a:solidFill>
                <a:latin typeface="Segoe UI"/>
              </a:rPr>
              <a:t>state graph</a:t>
            </a:r>
            <a:r>
              <a:rPr sz="3300" b="1" i="0">
                <a:solidFill>
                  <a:srgbClr val="EAF2FF"/>
                </a:solidFill>
                <a:latin typeface="Segoe UI"/>
              </a:rPr>
              <a:t> — every prompt's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502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8B97AD"/>
                </a:solidFill>
                <a:latin typeface="Segoe UI"/>
              </a:rPr>
              <a:t>A supervisor (central_reason) picks the next action; each node writes its result to shared state and returns to the planner. Drawn straight from agent/graph.py.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2148840"/>
            <a:ext cx="2286000" cy="502920"/>
          </a:xfrm>
          <a:prstGeom prst="rect">
            <a:avLst/>
          </a:prstGeom>
          <a:solidFill>
            <a:srgbClr val="0D1628"/>
          </a:solidFill>
          <a:ln w="15875">
            <a:solidFill>
              <a:srgbClr val="8B97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8B97AD"/>
                </a:solidFill>
                <a:latin typeface="Consolas"/>
              </a:rPr>
              <a:t>START → planner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B97AD"/>
                </a:solidFill>
                <a:latin typeface="Segoe UI"/>
              </a:rPr>
              <a:t>builds the plan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2788920"/>
            <a:ext cx="3017520" cy="640080"/>
          </a:xfrm>
          <a:prstGeom prst="rect">
            <a:avLst/>
          </a:prstGeom>
          <a:solidFill>
            <a:srgbClr val="0D1628"/>
          </a:solidFill>
          <a:ln w="15875">
            <a:solidFill>
              <a:srgbClr val="FF8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FF8FA3"/>
                </a:solidFill>
                <a:latin typeface="Consolas"/>
              </a:rPr>
              <a:t>central_reason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B97AD"/>
                </a:solidFill>
                <a:latin typeface="Segoe UI"/>
              </a:rPr>
              <a:t>supervisor — picks next action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703320"/>
            <a:ext cx="2651760" cy="594360"/>
          </a:xfrm>
          <a:prstGeom prst="rect">
            <a:avLst/>
          </a:prstGeom>
          <a:solidFill>
            <a:srgbClr val="0D1628"/>
          </a:solidFill>
          <a:ln w="15875">
            <a:solidFill>
              <a:srgbClr val="28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28E0D0"/>
                </a:solidFill>
                <a:latin typeface="Consolas"/>
              </a:rPr>
              <a:t>read_site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B97AD"/>
                </a:solidFill>
                <a:latin typeface="Segoe UI"/>
              </a:rPr>
              <a:t>↑ writes to state → planner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3703320"/>
            <a:ext cx="2651760" cy="594360"/>
          </a:xfrm>
          <a:prstGeom prst="rect">
            <a:avLst/>
          </a:prstGeom>
          <a:solidFill>
            <a:srgbClr val="0D1628"/>
          </a:solidFill>
          <a:ln w="15875">
            <a:solidFill>
              <a:srgbClr val="7C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7C7BFF"/>
                </a:solidFill>
                <a:latin typeface="Consolas"/>
              </a:rPr>
              <a:t>generate_shape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B97AD"/>
                </a:solidFill>
                <a:latin typeface="Segoe UI"/>
              </a:rPr>
              <a:t>↑ writes to state → planner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703320"/>
            <a:ext cx="2651760" cy="594360"/>
          </a:xfrm>
          <a:prstGeom prst="rect">
            <a:avLst/>
          </a:prstGeom>
          <a:solidFill>
            <a:srgbClr val="0D1628"/>
          </a:solidFill>
          <a:ln w="15875">
            <a:solidFill>
              <a:srgbClr val="FF8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FF8FA3"/>
                </a:solidFill>
                <a:latin typeface="Consolas"/>
              </a:rPr>
              <a:t>check_constraints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B97AD"/>
                </a:solidFill>
                <a:latin typeface="Segoe UI"/>
              </a:rPr>
              <a:t>↑ writes to state → planner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6839" y="3703320"/>
            <a:ext cx="2651760" cy="594360"/>
          </a:xfrm>
          <a:prstGeom prst="rect">
            <a:avLst/>
          </a:prstGeom>
          <a:solidFill>
            <a:srgbClr val="0D1628"/>
          </a:solidFill>
          <a:ln w="15875">
            <a:solidFill>
              <a:srgbClr val="57E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57E08A"/>
                </a:solidFill>
                <a:latin typeface="Consolas"/>
              </a:rPr>
              <a:t>optimize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B97AD"/>
                </a:solidFill>
                <a:latin typeface="Segoe UI"/>
              </a:rPr>
              <a:t>↑ writes to state → planner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480559"/>
            <a:ext cx="2651760" cy="594360"/>
          </a:xfrm>
          <a:prstGeom prst="rect">
            <a:avLst/>
          </a:prstGeom>
          <a:solidFill>
            <a:srgbClr val="0D1628"/>
          </a:solidFill>
          <a:ln w="15875">
            <a:solidFill>
              <a:srgbClr val="57F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57F2E6"/>
                </a:solidFill>
                <a:latin typeface="Consolas"/>
              </a:rPr>
              <a:t>evaluate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B97AD"/>
                </a:solidFill>
                <a:latin typeface="Segoe UI"/>
              </a:rPr>
              <a:t>↑ writes to state → planner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4480559"/>
            <a:ext cx="2651760" cy="594360"/>
          </a:xfrm>
          <a:prstGeom prst="rect">
            <a:avLst/>
          </a:prstGeom>
          <a:solidFill>
            <a:srgbClr val="0D1628"/>
          </a:solidFill>
          <a:ln w="15875">
            <a:solidFill>
              <a:srgbClr val="7C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7C7BFF"/>
                </a:solidFill>
                <a:latin typeface="Consolas"/>
              </a:rPr>
              <a:t>place_building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B97AD"/>
                </a:solidFill>
                <a:latin typeface="Segoe UI"/>
              </a:rPr>
              <a:t>↑ writes to state → planner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480559"/>
            <a:ext cx="2651760" cy="594360"/>
          </a:xfrm>
          <a:prstGeom prst="rect">
            <a:avLst/>
          </a:prstGeom>
          <a:solidFill>
            <a:srgbClr val="0D1628"/>
          </a:solidFill>
          <a:ln w="15875">
            <a:solidFill>
              <a:srgbClr val="57E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57E08A"/>
                </a:solidFill>
                <a:latin typeface="Consolas"/>
              </a:rPr>
              <a:t>report → finish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B97AD"/>
                </a:solidFill>
                <a:latin typeface="Segoe UI"/>
              </a:rPr>
              <a:t>↑ writes to state → planner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6839" y="4480559"/>
            <a:ext cx="2651760" cy="594360"/>
          </a:xfrm>
          <a:prstGeom prst="rect">
            <a:avLst/>
          </a:prstGeom>
          <a:solidFill>
            <a:srgbClr val="0D1628"/>
          </a:solidFill>
          <a:ln w="15875">
            <a:solidFill>
              <a:srgbClr val="5EC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5EC8FF"/>
                </a:solidFill>
                <a:latin typeface="Consolas"/>
              </a:rPr>
              <a:t>await_human → finish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8B97AD"/>
                </a:solidFill>
                <a:latin typeface="Segoe UI"/>
              </a:rPr>
              <a:t>↑ writes to state → planner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4068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9FB0C8"/>
                </a:solidFill>
                <a:latin typeface="Segoe UI"/>
              </a:rPr>
              <a:t>Nodes don't hand off to each other — each writes its result to shared state, then returns to the planner, which reads it and plans the next step.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" name="Picture 8" descr="terrapilot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8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8E0D0"/>
                </a:solidFill>
                <a:latin typeface="Segoe UI"/>
              </a:rPr>
              <a:t>HONEST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3300" b="1" i="0">
                <a:solidFill>
                  <a:srgbClr val="EAF2FF"/>
                </a:solidFill>
                <a:latin typeface="Segoe UI"/>
              </a:rPr>
              <a:t>What </a:t>
            </a:r>
            <a:r>
              <a:rPr sz="3300" b="1" i="0">
                <a:solidFill>
                  <a:srgbClr val="57F2E6"/>
                </a:solidFill>
                <a:latin typeface="Segoe UI"/>
              </a:rPr>
              <a:t>works</a:t>
            </a:r>
            <a:r>
              <a:rPr sz="3300" b="1" i="0">
                <a:solidFill>
                  <a:srgbClr val="EAF2FF"/>
                </a:solidFill>
                <a:latin typeface="Segoe UI"/>
              </a:rPr>
              <a:t> — and what doesn't yet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349240" cy="3749039"/>
          </a:xfrm>
          <a:prstGeom prst="rect">
            <a:avLst/>
          </a:prstGeom>
          <a:solidFill>
            <a:srgbClr val="0D1628"/>
          </a:solidFill>
          <a:ln w="15875">
            <a:solidFill>
              <a:srgbClr val="57E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57E08A"/>
                </a:solidFill>
                <a:latin typeface="Segoe UI"/>
              </a:rPr>
              <a:t>✅ What works today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EAF2FF"/>
                </a:solidFill>
                <a:latin typeface="Segoe UI"/>
              </a:rPr>
              <a:t>• Plain-prompt generation, manipulation &amp; per-wing floor edits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EAF2FF"/>
                </a:solidFill>
                <a:latin typeface="Segoe UI"/>
              </a:rPr>
              <a:t>• Multi-objective optimization with a true Pareto front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EAF2FF"/>
                </a:solidFill>
                <a:latin typeface="Segoe UI"/>
              </a:rPr>
              <a:t>• Real environmental scoring — NASA + OpenStreetMap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EAF2FF"/>
                </a:solidFill>
                <a:latin typeface="Segoe UI"/>
              </a:rPr>
              <a:t>• Context-aware moves — "align to the road", "face the park"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EAF2FF"/>
                </a:solidFill>
                <a:latin typeface="Segoe UI"/>
              </a:rPr>
              <a:t>• Save / preview / optimize saved versions end-to-end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828800"/>
            <a:ext cx="5349240" cy="3749039"/>
          </a:xfrm>
          <a:prstGeom prst="rect">
            <a:avLst/>
          </a:prstGeom>
          <a:solidFill>
            <a:srgbClr val="0D1628"/>
          </a:solidFill>
          <a:ln w="1587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64592"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B454"/>
                </a:solidFill>
                <a:latin typeface="Segoe UI"/>
              </a:rPr>
              <a:t>🚧 Current limitations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EAF2FF"/>
                </a:solidFill>
                <a:latin typeface="Segoe UI"/>
              </a:rPr>
              <a:t>• A scoring engine, not a full physics simulation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EAF2FF"/>
                </a:solidFill>
                <a:latin typeface="Segoe UI"/>
              </a:rPr>
              <a:t>• LLM intent depends on a free-tier quota (keyword fallback covers it)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EAF2FF"/>
                </a:solidFill>
                <a:latin typeface="Segoe UI"/>
              </a:rPr>
              <a:t>• Export is GeoJSON today; native Rhino/Revit needs the MCP bridge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EAF2FF"/>
                </a:solidFill>
                <a:latin typeface="Segoe UI"/>
              </a:rPr>
              <a:t>• Single building per site; massing is conceptual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EAF2FF"/>
                </a:solidFill>
                <a:latin typeface="Segoe UI"/>
              </a:rPr>
              <a:t>• Context quality depends on OpenStreetMap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7C7BFF"/>
                </a:solidFill>
                <a:latin typeface="Segoe UI"/>
              </a:rPr>
              <a:t>We're deliberate about honesty: when data or a model isn't available, TerraPilot says so — never invents a number.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Picture 14" descr="terrapilot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8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8E0D0"/>
                </a:solidFill>
                <a:latin typeface="Segoe UI"/>
              </a:rPr>
              <a:t>WHY DESIGNERS 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3300" b="1" i="0">
                <a:solidFill>
                  <a:srgbClr val="EAF2FF"/>
                </a:solidFill>
                <a:latin typeface="Segoe UI"/>
              </a:rPr>
              <a:t>How it </a:t>
            </a:r>
            <a:r>
              <a:rPr sz="3300" b="1" i="0">
                <a:solidFill>
                  <a:srgbClr val="57F2E6"/>
                </a:solidFill>
                <a:latin typeface="Segoe UI"/>
              </a:rPr>
              <a:t>helps</a:t>
            </a:r>
            <a:r>
              <a:rPr sz="3300" b="1" i="0">
                <a:solidFill>
                  <a:srgbClr val="EAF2FF"/>
                </a:solidFill>
                <a:latin typeface="Segoe UI"/>
              </a:rPr>
              <a:t> a designer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303520" cy="1691640"/>
          </a:xfrm>
          <a:prstGeom prst="rect">
            <a:avLst/>
          </a:prstGeom>
          <a:solidFill>
            <a:srgbClr val="0D1628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28E0D0"/>
                </a:solidFill>
                <a:latin typeface="Segoe UI"/>
              </a:rPr>
              <a:t>⚡  Explore in minutes, not days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7D2E6"/>
                </a:solidFill>
                <a:latin typeface="Segoe UI"/>
              </a:rPr>
              <a:t>Test dozens of site-aware options in the time a single massing study used to take.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4864" cy="1691640"/>
          </a:xfrm>
          <a:prstGeom prst="rect">
            <a:avLst/>
          </a:prstGeom>
          <a:solidFill>
            <a:srgbClr val="28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828800"/>
            <a:ext cx="5303520" cy="1691640"/>
          </a:xfrm>
          <a:prstGeom prst="rect">
            <a:avLst/>
          </a:prstGeom>
          <a:solidFill>
            <a:srgbClr val="0D1628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7C7BFF"/>
                </a:solidFill>
                <a:latin typeface="Segoe UI"/>
              </a:rPr>
              <a:t>🌍  Site-grounded from the first sketch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7D2E6"/>
                </a:solidFill>
                <a:latin typeface="Segoe UI"/>
              </a:rPr>
              <a:t>Sun, wind, noise, roads and neighbours are in the loop from minute 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828800"/>
            <a:ext cx="54864" cy="1691640"/>
          </a:xfrm>
          <a:prstGeom prst="rect">
            <a:avLst/>
          </a:prstGeom>
          <a:solidFill>
            <a:srgbClr val="7C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703320"/>
            <a:ext cx="5303520" cy="1691640"/>
          </a:xfrm>
          <a:prstGeom prst="rect">
            <a:avLst/>
          </a:prstGeom>
          <a:solidFill>
            <a:srgbClr val="0D1628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28E0D0"/>
                </a:solidFill>
                <a:latin typeface="Segoe UI"/>
              </a:rPr>
              <a:t>🗣️  No software to learn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7D2E6"/>
                </a:solidFill>
                <a:latin typeface="Segoe UI"/>
              </a:rPr>
              <a:t>Designers think in intent, not menus. “Open it toward the park” just works.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703320"/>
            <a:ext cx="54864" cy="1691640"/>
          </a:xfrm>
          <a:prstGeom prst="rect">
            <a:avLst/>
          </a:prstGeom>
          <a:solidFill>
            <a:srgbClr val="28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3703320"/>
            <a:ext cx="5303520" cy="1691640"/>
          </a:xfrm>
          <a:prstGeom prst="rect">
            <a:avLst/>
          </a:prstGeom>
          <a:solidFill>
            <a:srgbClr val="0D1628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137160" bIns="9144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7C7BFF"/>
                </a:solidFill>
                <a:latin typeface="Segoe UI"/>
              </a:rPr>
              <a:t>🧾  Decisions you can defend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7D2E6"/>
                </a:solidFill>
                <a:latin typeface="Segoe UI"/>
              </a:rPr>
              <a:t>Every move carries a WHY and a score trade-off — a clear story for clients &amp; juries.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4864" cy="1691640"/>
          </a:xfrm>
          <a:prstGeom prst="rect">
            <a:avLst/>
          </a:prstGeom>
          <a:solidFill>
            <a:srgbClr val="7C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7C7BFF"/>
                </a:solidFill>
                <a:latin typeface="Segoe UI"/>
              </a:rPr>
              <a:t>TerraPilot doesn't replace the designer — it removes the grunt work so they spend time on judgement, not setup.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Picture 5" descr="terrapilot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8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972800" cy="14630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4000" b="1" i="0">
                <a:solidFill>
                  <a:srgbClr val="EAF2FF"/>
                </a:solidFill>
                <a:latin typeface="Segoe UI"/>
              </a:rPr>
              <a:t>Plain prompts in.
</a:t>
            </a:r>
          </a:p>
          <a:p>
            <a:pPr algn="ctr"/>
            <a:r>
              <a:rPr sz="4000" b="1" i="0">
                <a:solidFill>
                  <a:srgbClr val="57F2E6"/>
                </a:solidFill>
                <a:latin typeface="Segoe UI"/>
              </a:rPr>
              <a:t>Site-aware architecture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10972800" cy="7315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8B97AD"/>
                </a:solidFill>
                <a:latin typeface="Segoe UI"/>
              </a:rPr>
              <a:t>▲ TerraPilot · An AI co-pilot for early-stage architectural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