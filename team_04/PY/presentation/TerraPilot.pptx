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AI-DRIVEN ARCHITECTURAL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6000" b="1" i="0">
                <a:solidFill>
                  <a:srgbClr val="EAF2FF"/>
                </a:solidFill>
                <a:latin typeface="Segoe UI"/>
              </a:rPr>
              <a:t>▲ Terra</a:t>
            </a:r>
            <a:r>
              <a:rPr sz="6000" b="1" i="0">
                <a:solidFill>
                  <a:srgbClr val="57F2E6"/>
                </a:solidFill>
                <a:latin typeface="Segoe UI"/>
              </a:rPr>
              <a:t>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8B97AD"/>
                </a:solidFill>
                <a:latin typeface="Segoe UI"/>
              </a:rPr>
              <a:t>An AI co-pilot that turns plain prompts into site-aware, optimized, explainable architecture.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AI Logic &amp; Optimization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Shape &amp; Manipulation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Site &amp; Urban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"You describe a building in a simple prompt — TerraPilot generates, places, and optimizes it on a real site."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From a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sentence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to a site-aware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B97AD"/>
                </a:solidFill>
                <a:latin typeface="Segoe UI"/>
              </a:rPr>
              <a:t>Early-stage design is slow and manual — one massing study can take days. TerraPilot collapses that into minutes through a guided, conversational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47472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💬  You talk to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No menus to learn. Just say it — “give it a futuristic twist”, “open it toward the park” — like talking to a design assistant.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4864" cy="173736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468880"/>
            <a:ext cx="347472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🌍  On a real site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It knows the actual roads, sun, wind and neighbours around your plot — not a blank canvas.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468880"/>
            <a:ext cx="54864" cy="173736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9" y="2468880"/>
            <a:ext cx="347472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🧠  And it explains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Every change carries an intent, a confidence, and a WHY. It tells you what's real vs estimated.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468880"/>
            <a:ext cx="54864" cy="1737360"/>
          </a:xfrm>
          <a:prstGeom prst="rect">
            <a:avLst/>
          </a:prstGeom>
          <a:solidFill>
            <a:srgbClr val="57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2000 m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OSM context radius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16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scoring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8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named strategies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39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understanding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One guided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workflow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, seven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📍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01 Site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Define the plot.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⬡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02 Boundary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Auto setbacks.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03 Context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OSM digital twin.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39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04 Shape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Generate &amp; 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⚙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05 Optimize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Multi-objective Pareto.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47472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06 Compare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Side by 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⬇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07 Export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Rhino / Revit IFC.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Backend enforces the order: shape generation + selection must precede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How the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frontend &amp; backend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work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212080" cy="420624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7F2E6"/>
                </a:solidFill>
                <a:latin typeface="Segoe UI"/>
              </a:rPr>
              <a:t>🖥  Frontend · vanilla JS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copilotClient.js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Routes your message to the right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core/store.js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Single source of truth — UI reacts to state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views/viewerView.js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3D building — extrudes each floor plate at its 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panels/healthDashboard.js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Live scores, re-evaluates on every edit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212080" cy="420624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C9C8FF"/>
                </a:solidFill>
                <a:latin typeface="Segoe UI"/>
              </a:rPr>
              <a:t>⚙  Backend · 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connection/routes/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API endpoints — thin wrappers, no duplicated 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connection/nodes/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3-layer prompt understanding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notebook_logic/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Geometry engine — manipulate, transform, floor plates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optimization/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16 scorers + Pareto selector + env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One shared runtime — the notebooks and the UI call the same engine. JSON over HTTP between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Watch a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prompt flow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through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B97AD"/>
                </a:solidFill>
                <a:latin typeface="Segoe UI"/>
              </a:rPr>
              <a:t>“Give it a futuristic twist” — from the chat box to the sculpted 3D building.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💬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Chat input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User types intent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copilotClient.js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🔀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API route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/feedback endpoint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feedback_routes.py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🧠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Understand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3-layer → intent + WHY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nodes/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📐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Geometry op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twist the plate stack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notebook_logic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🧊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3D viewer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building updates live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viewerView.js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7F2E6"/>
                </a:solidFill>
                <a:latin typeface="Segoe UI"/>
              </a:rPr>
              <a:t>① Intent: change_character      ② Op: twist · confidence 0.9      ③ Plates re-transformed, holes kept      ④ Response → store → viewer re-renders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Every hop is real — the same path runs for a command, a vague intent, or "align to the road".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STAGE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A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digital twin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of the surroundings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035040" cy="3840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Real OpenStreetMap data in a 2 km radius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Roads, transit, parks, amenities &amp; neighbouring buildings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Edge intelligence — every site edge named by compass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"north edge", "road-facing edge" become design targets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10 context scores computed once &amp; cached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Feeds noise, view, access &amp; density objectives later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Automatic setbacks define the buildable area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Nothing can be placed outside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737360"/>
            <a:ext cx="4572000" cy="3749039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● Live Design Health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☀ Solar</a:t>
            </a:r>
            <a:r>
              <a:rPr sz="1250" b="1" i="0">
                <a:solidFill>
                  <a:srgbClr val="FFB454"/>
                </a:solidFill>
                <a:latin typeface="Segoe UI"/>
              </a:rPr>
              <a:t>   █████████  66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👁 View</a:t>
            </a:r>
            <a:r>
              <a:rPr sz="1250" b="1" i="0">
                <a:solidFill>
                  <a:srgbClr val="57F2E6"/>
                </a:solidFill>
                <a:latin typeface="Segoe UI"/>
              </a:rPr>
              <a:t>   ██████████████  98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🔊 Noise</a:t>
            </a:r>
            <a:r>
              <a:rPr sz="1250" b="1" i="0">
                <a:solidFill>
                  <a:srgbClr val="7C7BFF"/>
                </a:solidFill>
                <a:latin typeface="Segoe UI"/>
              </a:rPr>
              <a:t>   ██  14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💨 Wind</a:t>
            </a:r>
            <a:r>
              <a:rPr sz="1250" b="1" i="0">
                <a:solidFill>
                  <a:srgbClr val="38BDF8"/>
                </a:solidFill>
                <a:latin typeface="Segoe UI"/>
              </a:rPr>
              <a:t>   █████████  64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🏢 Density</a:t>
            </a:r>
            <a:r>
              <a:rPr sz="1250" b="1" i="0">
                <a:solidFill>
                  <a:srgbClr val="FF8FA3"/>
                </a:solidFill>
                <a:latin typeface="Segoe UI"/>
              </a:rPr>
              <a:t>   ████████  56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Draggable · minimizable · updates live · shows geometry → real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STAGE 4 ·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Sculpt the building by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talking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to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120640" cy="384048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663440" cy="32918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57F2E6"/>
                </a:solidFill>
                <a:latin typeface="Segoe UI"/>
              </a:rPr>
              <a:t>💬  “Design me an 8-storey tower”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F2FF"/>
                </a:solidFill>
                <a:latin typeface="Segoe UI"/>
              </a:rPr>
              <a:t>→ “give it a futuristic twist”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F2FF"/>
                </a:solidFill>
                <a:latin typeface="Segoe UI"/>
              </a:rPr>
              <a:t>→ “carve a courtyard”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AF2FF"/>
                </a:solidFill>
                <a:latin typeface="Segoe UI"/>
              </a:rPr>
              <a:t>→ “add 2 floors on the right wing”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B97AD"/>
                </a:solidFill>
                <a:latin typeface="Segoe UI"/>
              </a:rPr>
              <a:t>Real geometry updates live in 3D after every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5394960" cy="3657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Natural-language intent, not commands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“Give it a futuristic twist”, “carve a courtyard”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Floor-plate model — a stack of plates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Edit per-floor AND per-wing, not the whole block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Real geometry every time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Holes, wings &amp; twist travel through every transform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Save any version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→ preview &amp; optimize it later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How we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break &amp; understand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a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B97AD"/>
                </a:solidFill>
                <a:latin typeface="Segoe UI"/>
              </a:rPr>
              <a:t>Every message flows through a 3-layer pipeline — most specific first, smartest fallback last.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474720" cy="169164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8E0D0"/>
                </a:solidFill>
                <a:latin typeface="Segoe UI"/>
              </a:rPr>
              <a:t>⌨️  LAYER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Direct command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Exact instructions — “add 2 floors”, “rotate 30°”.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51760"/>
            <a:ext cx="4114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148840"/>
            <a:ext cx="3474720" cy="169164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7BFF"/>
                </a:solidFill>
                <a:latin typeface="Segoe UI"/>
              </a:rPr>
              <a:t>🧩  LAYER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Semantic intent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The LLM reads a feeling — “let in more daylight”.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651760"/>
            <a:ext cx="4114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2148840"/>
            <a:ext cx="3474720" cy="1691640"/>
          </a:xfrm>
          <a:prstGeom prst="rect">
            <a:avLst/>
          </a:prstGeom>
          <a:solidFill>
            <a:srgbClr val="0D1628"/>
          </a:solidFill>
          <a:ln w="15875">
            <a:solidFill>
              <a:srgbClr val="57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🧠  LAYER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Reason Node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Decides the move + the WHY, with confidence.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5303520" cy="14630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🔁  Two-tier fallback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Gemini → Cloudflare → keyword matching. It never dies on an API quota — the fallback is load-bearing.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54864" cy="146304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303520" cy="14630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8FA3"/>
                </a:solidFill>
                <a:latin typeface="Segoe UI"/>
              </a:rPr>
              <a:t>🛡️  Hallucination guard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If a prompt matches no real operation, we reject it — never fake a change to look successful.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4864" cy="1463040"/>
          </a:xfrm>
          <a:prstGeom prst="rect">
            <a:avLst/>
          </a:prstGeom>
          <a:solidFill>
            <a:srgbClr val="FF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Multi-objective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7F2E6"/>
                </a:solidFill>
                <a:latin typeface="Segoe UI"/>
              </a:rPr>
              <a:t>🎲 POOL — Candidates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Placement × rotation × massing — large, diverse pool.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521208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7F2E6"/>
                </a:solidFill>
                <a:latin typeface="Segoe UI"/>
              </a:rPr>
              <a:t>📊 SCORE — Every objective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16 scorers per candidate, cached site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521208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7F2E6"/>
                </a:solidFill>
                <a:latin typeface="Segoe UI"/>
              </a:rPr>
              <a:t>⭐ SELECT — 8 strategies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Diverse, named options from the Pareto front.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365760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True Pareto front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EAF2FF"/>
                </a:solidFill>
                <a:latin typeface="Segoe UI"/>
              </a:rPr>
              <a:t>A diverse set of non-dominated options — each best at a different trade-off, so you choose by priority, not a single 'winner'.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8E0D0"/>
                </a:solidFill>
                <a:latin typeface="Segoe UI"/>
              </a:rPr>
              <a:t>☀ Solar    👁 View    🔊 Noise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8E0D0"/>
                </a:solidFill>
                <a:latin typeface="Segoe UI"/>
              </a:rPr>
              <a:t>🌳 Open    💨 Wind    ⚖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Honest engineering: scores use real NASA POWER climate + OSM data. Missing data shows N/A, never invented.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The hard problems we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🌀  Optimize keeps your edits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Optimizing a manipulated building preserves the twist + added floors — the full floor-plate stack is carried through every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228600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474720" cy="228600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🗂️  Saved-shapes explorer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Browse saved designs → preview each in 3D → optimize the exact one you choose. Variants accumulate, never overwrite.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54864" cy="228600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9" y="1828800"/>
            <a:ext cx="3474720" cy="228600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🛣️  Context-aware alignment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"Align facade to main road" rotates the building parallel to the real OSM road geometry — not a compass default.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828800"/>
            <a:ext cx="54864" cy="2286000"/>
          </a:xfrm>
          <a:prstGeom prst="rect">
            <a:avLst/>
          </a:prstGeom>
          <a:solidFill>
            <a:srgbClr val="57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1088136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All 6 environmental scorers run in dual mode — a geometry estimate AND a real-data value — with a proxy / ● live badge, so you always know which is which.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The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backend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, in one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38328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FastAPI runtime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One shared engine — notebooks &amp; UI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Routes are thin wrappers over notebook_logic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nodes/ — 3-layer prompt understanding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direct → semantic → reason-node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optimization/ — 16 scorers + Pareto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env_data · site_context_memory · context_enrichment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212080" cy="338328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C9C8FF"/>
                </a:solidFill>
                <a:latin typeface="Segoe UI"/>
              </a:rPr>
              <a:t>Data &amp; intelligence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NASA POWER — wind, solar, temperature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Fetched once per site, cached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OpenStreetMap — roads, amenities, buildings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Powers noise, access, density, road-align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Shape version manager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Save / preview / optimize — floor-plate geometry preserved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The agent's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state graph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— every prompt's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B97AD"/>
                </a:solidFill>
                <a:latin typeface="Segoe UI"/>
              </a:rPr>
              <a:t>A supervisor (central_reason) picks the next action; each node writes its result to shared state and returns to the planner. Drawn straight from agent/graph.py.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148840"/>
            <a:ext cx="2286000" cy="502920"/>
          </a:xfrm>
          <a:prstGeom prst="rect">
            <a:avLst/>
          </a:prstGeom>
          <a:solidFill>
            <a:srgbClr val="0D1628"/>
          </a:solidFill>
          <a:ln w="15875">
            <a:solidFill>
              <a:srgbClr val="8B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8B97AD"/>
                </a:solidFill>
                <a:latin typeface="Consolas"/>
              </a:rPr>
              <a:t>START → planner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builds the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88920"/>
            <a:ext cx="301752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FF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8FA3"/>
                </a:solidFill>
                <a:latin typeface="Consolas"/>
              </a:rPr>
              <a:t>central_reason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supervisor — picks next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8E0D0"/>
                </a:solidFill>
                <a:latin typeface="Consolas"/>
              </a:rPr>
              <a:t>read_site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7C7BFF"/>
                </a:solidFill>
                <a:latin typeface="Consolas"/>
              </a:rPr>
              <a:t>generate_shape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FF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8FA3"/>
                </a:solidFill>
                <a:latin typeface="Consolas"/>
              </a:rPr>
              <a:t>check_constraints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39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7E08A"/>
                </a:solidFill>
                <a:latin typeface="Consolas"/>
              </a:rPr>
              <a:t>optimize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7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7F2E6"/>
                </a:solidFill>
                <a:latin typeface="Consolas"/>
              </a:rPr>
              <a:t>evaluate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7C7BFF"/>
                </a:solidFill>
                <a:latin typeface="Consolas"/>
              </a:rPr>
              <a:t>place_building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7E08A"/>
                </a:solidFill>
                <a:latin typeface="Consolas"/>
              </a:rPr>
              <a:t>report → finish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39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E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EC8FF"/>
                </a:solidFill>
                <a:latin typeface="Consolas"/>
              </a:rPr>
              <a:t>await_human → finish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0C8"/>
                </a:solidFill>
                <a:latin typeface="Segoe UI"/>
              </a:rPr>
              <a:t>Nodes don't hand off to each other — each writes its result to shared state, then returns to the planner, which reads it and plans the next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HONEST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What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works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— and what doesn't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3749039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7E08A"/>
                </a:solidFill>
                <a:latin typeface="Segoe UI"/>
              </a:rPr>
              <a:t>✅ What works today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Plain-prompt generation, manipulation &amp; per-wing floor edits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Multi-objective optimization with a true Pareto front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Real environmental scoring — NASA + OpenStreetMap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Context-aware moves — "align to the road", "face the park"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Save / preview / optimize saved versions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8800"/>
            <a:ext cx="5349240" cy="3749039"/>
          </a:xfrm>
          <a:prstGeom prst="rect">
            <a:avLst/>
          </a:prstGeom>
          <a:solidFill>
            <a:srgbClr val="0D1628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B454"/>
                </a:solidFill>
                <a:latin typeface="Segoe UI"/>
              </a:rPr>
              <a:t>🚧 Current limitations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A scoring engine, not a full physics simulation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LLM intent depends on a free-tier quota (keyword fallback covers it)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Export is GeoJSON today; native Rhino/Revit needs the MCP bridge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Single building per site; massing is conceptual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Context quality depends on OpenStreetMap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We're deliberate about honesty: when data or a model isn't available, TerraPilot says so — never invents a number.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WHY DESIGNERS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How it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helps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a designer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⚡  Explore in minutes, not days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Test dozens of site-aware options in the time a single massing study used to take.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169164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82880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🌍  Site-grounded from the first sketch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Sun, wind, noise, roads and neighbours are in the loop from minute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4864" cy="169164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🗣️  No software to learn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Designers think in intent, not menus. “Open it toward the park” just 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54864" cy="169164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70332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🧾  Decisions you can defend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Every move carries a WHY and a score trade-off — a clear story for clients &amp; juries.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4864" cy="169164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TerraPilot doesn't replace the designer — it removes the grunt work so they spend time on judgement, not setup.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463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4000" b="1" i="0">
                <a:solidFill>
                  <a:srgbClr val="EAF2FF"/>
                </a:solidFill>
                <a:latin typeface="Segoe UI"/>
              </a:rPr>
              <a:t>Plain prompts in.
</a:t>
            </a:r>
          </a:p>
          <a:p>
            <a:pPr algn="ctr"/>
            <a:r>
              <a:rPr sz="4000" b="1" i="0">
                <a:solidFill>
                  <a:srgbClr val="57F2E6"/>
                </a:solidFill>
                <a:latin typeface="Segoe UI"/>
              </a:rPr>
              <a:t>Site-aware architecture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8B97AD"/>
                </a:solidFill>
                <a:latin typeface="Segoe UI"/>
              </a:rPr>
              <a:t>▲ TerraPilot · An AI co-pilot for early-stage architectural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